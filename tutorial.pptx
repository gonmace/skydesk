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48840"/>
            <a:ext cx="10332720" cy="1097280"/>
          </a:xfrm>
          <a:prstGeom prst="rect">
            <a:avLst/>
          </a:prstGeom>
          <a:noFill/>
        </p:spPr>
        <p:txBody>
          <a:bodyPr wrap="square">
            <a:spAutoFit/>
          </a:bodyPr>
          <a:lstStyle/>
          <a:p>
            <a:pPr algn="l"/>
            <a:r>
              <a:rPr sz="6000" b="1">
                <a:solidFill>
                  <a:srgbClr val="E4002B"/>
                </a:solidFill>
                <a:latin typeface="Calibri"/>
              </a:rPr>
              <a:t>Sky</a:t>
            </a:r>
            <a:r>
              <a:rPr sz="6000" b="1">
                <a:solidFill>
                  <a:srgbClr val="1A1516"/>
                </a:solidFill>
                <a:latin typeface="Calibri"/>
              </a:rPr>
              <a:t>Desk</a:t>
            </a:r>
          </a:p>
        </p:txBody>
      </p:sp>
      <p:sp>
        <p:nvSpPr>
          <p:cNvPr id="4" name="TextBox 3"/>
          <p:cNvSpPr txBox="1"/>
          <p:nvPr/>
        </p:nvSpPr>
        <p:spPr>
          <a:xfrm>
            <a:off x="914400" y="3246120"/>
            <a:ext cx="10332720" cy="640080"/>
          </a:xfrm>
          <a:prstGeom prst="rect">
            <a:avLst/>
          </a:prstGeom>
          <a:noFill/>
        </p:spPr>
        <p:txBody>
          <a:bodyPr wrap="square">
            <a:spAutoFit/>
          </a:bodyPr>
          <a:lstStyle/>
          <a:p>
            <a:pPr algn="l"/>
            <a:r>
              <a:rPr sz="3000" b="1">
                <a:solidFill>
                  <a:srgbClr val="1A1516"/>
                </a:solidFill>
                <a:latin typeface="Calibri"/>
              </a:rPr>
              <a:t>Tutorial del sistema de tickets</a:t>
            </a:r>
          </a:p>
        </p:txBody>
      </p:sp>
      <p:sp>
        <p:nvSpPr>
          <p:cNvPr id="5" name="TextBox 4"/>
          <p:cNvSpPr txBox="1"/>
          <p:nvPr/>
        </p:nvSpPr>
        <p:spPr>
          <a:xfrm>
            <a:off x="914400" y="3977639"/>
            <a:ext cx="10332720" cy="548640"/>
          </a:xfrm>
          <a:prstGeom prst="rect">
            <a:avLst/>
          </a:prstGeom>
          <a:noFill/>
        </p:spPr>
        <p:txBody>
          <a:bodyPr wrap="square">
            <a:spAutoFit/>
          </a:bodyPr>
          <a:lstStyle/>
          <a:p>
            <a:pPr algn="l"/>
            <a:r>
              <a:rPr sz="1700" b="0">
                <a:solidFill>
                  <a:srgbClr val="6B6062"/>
                </a:solidFill>
                <a:latin typeface="Calibri"/>
              </a:rPr>
              <a:t>Guía visual para Coordinadores, Ejecutores, Expertos y Seguimiento</a:t>
            </a:r>
          </a:p>
        </p:txBody>
      </p:sp>
      <p:sp>
        <p:nvSpPr>
          <p:cNvPr id="6" name="TextBox 5"/>
          <p:cNvSpPr txBox="1"/>
          <p:nvPr/>
        </p:nvSpPr>
        <p:spPr>
          <a:xfrm>
            <a:off x="914400" y="4663440"/>
            <a:ext cx="10332720" cy="457200"/>
          </a:xfrm>
          <a:prstGeom prst="rect">
            <a:avLst/>
          </a:prstGeom>
          <a:noFill/>
        </p:spPr>
        <p:txBody>
          <a:bodyPr wrap="square">
            <a:spAutoFit/>
          </a:bodyPr>
          <a:lstStyle/>
          <a:p>
            <a:pPr algn="l"/>
            <a:r>
              <a:rPr sz="1300" b="1">
                <a:solidFill>
                  <a:srgbClr val="D1A23C"/>
                </a:solidFill>
                <a:latin typeface="Calibri"/>
              </a:rPr>
              <a:t>Roles alineados a la matriz RACI · buenas prácticas del PMI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CONCEPTOS BÁSICOS</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Los roles siguen el modelo RACI</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sp>
        <p:nvSpPr>
          <p:cNvPr id="6" name="TextBox 5"/>
          <p:cNvSpPr txBox="1"/>
          <p:nvPr/>
        </p:nvSpPr>
        <p:spPr>
          <a:xfrm>
            <a:off x="777240" y="1234440"/>
            <a:ext cx="10607040" cy="822960"/>
          </a:xfrm>
          <a:prstGeom prst="rect">
            <a:avLst/>
          </a:prstGeom>
          <a:noFill/>
        </p:spPr>
        <p:txBody>
          <a:bodyPr wrap="square">
            <a:spAutoFit/>
          </a:bodyPr>
          <a:lstStyle/>
          <a:p>
            <a:pPr algn="l">
              <a:lnSpc>
                <a:spcPct val="120000"/>
              </a:lnSpc>
            </a:pPr>
            <a:r>
              <a:rPr sz="1400" b="0">
                <a:solidFill>
                  <a:srgbClr val="1A1516"/>
                </a:solidFill>
                <a:latin typeface="Calibri"/>
              </a:rPr>
              <a:t>La asignación de responsabilidades está basada en la matriz RACI (Responsible, Accountable, Consulted, Informed), alineada a las buenas prácticas del PMI: cada tarea tiene un único responsable final que rinde cuentas, uno o más que la ejecutan, consultados que aportan criterio e informados que siguen el avance.</a:t>
            </a:r>
          </a:p>
        </p:txBody>
      </p:sp>
      <p:pic>
        <p:nvPicPr>
          <p:cNvPr id="7" name="Picture 6" descr="raci.png"/>
          <p:cNvPicPr>
            <a:picLocks noChangeAspect="1"/>
          </p:cNvPicPr>
          <p:nvPr/>
        </p:nvPicPr>
        <p:blipFill>
          <a:blip r:embed="rId2"/>
          <a:stretch>
            <a:fillRect/>
          </a:stretch>
        </p:blipFill>
        <p:spPr>
          <a:xfrm>
            <a:off x="777240" y="2286000"/>
            <a:ext cx="10607040" cy="1193573"/>
          </a:xfrm>
          <a:prstGeom prst="rect">
            <a:avLst/>
          </a:prstGeom>
        </p:spPr>
      </p:pic>
      <p:sp>
        <p:nvSpPr>
          <p:cNvPr id="8" name="TextBox 7"/>
          <p:cNvSpPr txBox="1"/>
          <p:nvPr/>
        </p:nvSpPr>
        <p:spPr>
          <a:xfrm>
            <a:off x="777240" y="4480560"/>
            <a:ext cx="10607040" cy="1828800"/>
          </a:xfrm>
          <a:prstGeom prst="rect">
            <a:avLst/>
          </a:prstGeom>
          <a:noFill/>
        </p:spPr>
        <p:txBody>
          <a:bodyPr wrap="square">
            <a:spAutoFit/>
          </a:bodyPr>
          <a:lstStyle/>
          <a:p>
            <a:pPr>
              <a:lnSpc>
                <a:spcPct val="115000"/>
              </a:lnSpc>
              <a:spcAft>
                <a:spcPts val="600"/>
              </a:spcAft>
            </a:pPr>
            <a:r>
              <a:rPr sz="1400">
                <a:solidFill>
                  <a:srgbClr val="E4002B"/>
                </a:solidFill>
                <a:latin typeface="Calibri"/>
              </a:rPr>
              <a:t>▪  </a:t>
            </a:r>
            <a:r>
              <a:rPr sz="1400" b="1">
                <a:solidFill>
                  <a:srgbClr val="E4002B"/>
                </a:solidFill>
                <a:latin typeface="Calibri"/>
              </a:rPr>
              <a:t>Coordinador (A)</a:t>
            </a:r>
            <a:r>
              <a:rPr sz="1400" b="0">
                <a:solidFill>
                  <a:srgbClr val="1A1516"/>
                </a:solidFill>
                <a:latin typeface="Calibri"/>
              </a:rPr>
              <a:t> — responsable del flujo: crea, asigna, aprueba o rechaza, suspende y archiva.</a:t>
            </a:r>
          </a:p>
          <a:p>
            <a:pPr>
              <a:lnSpc>
                <a:spcPct val="115000"/>
              </a:lnSpc>
              <a:spcAft>
                <a:spcPts val="600"/>
              </a:spcAft>
            </a:pPr>
            <a:r>
              <a:rPr sz="1400">
                <a:solidFill>
                  <a:srgbClr val="E4002B"/>
                </a:solidFill>
                <a:latin typeface="Calibri"/>
              </a:rPr>
              <a:t>▪  </a:t>
            </a:r>
            <a:r>
              <a:rPr sz="1400" b="1">
                <a:solidFill>
                  <a:srgbClr val="2F7D4F"/>
                </a:solidFill>
                <a:latin typeface="Calibri"/>
              </a:rPr>
              <a:t>Ejecutor (R)</a:t>
            </a:r>
            <a:r>
              <a:rPr sz="1400" b="0">
                <a:solidFill>
                  <a:srgbClr val="1A1516"/>
                </a:solidFill>
                <a:latin typeface="Calibri"/>
              </a:rPr>
              <a:t> — hace el trabajo: toma sus tickets, los avanza y los concluye.</a:t>
            </a:r>
          </a:p>
          <a:p>
            <a:pPr>
              <a:lnSpc>
                <a:spcPct val="115000"/>
              </a:lnSpc>
              <a:spcAft>
                <a:spcPts val="600"/>
              </a:spcAft>
            </a:pPr>
            <a:r>
              <a:rPr sz="1400">
                <a:solidFill>
                  <a:srgbClr val="E4002B"/>
                </a:solidFill>
                <a:latin typeface="Calibri"/>
              </a:rPr>
              <a:t>▪  </a:t>
            </a:r>
            <a:r>
              <a:rPr sz="1400" b="1">
                <a:solidFill>
                  <a:srgbClr val="1273B8"/>
                </a:solidFill>
                <a:latin typeface="Calibri"/>
              </a:rPr>
              <a:t>Experto (C)</a:t>
            </a:r>
            <a:r>
              <a:rPr sz="1400" b="0">
                <a:solidFill>
                  <a:srgbClr val="1A1516"/>
                </a:solidFill>
                <a:latin typeface="Calibri"/>
              </a:rPr>
              <a:t> — consultor: aporta criterio en el chat de los tickets donde participa.</a:t>
            </a:r>
          </a:p>
          <a:p>
            <a:pPr>
              <a:lnSpc>
                <a:spcPct val="115000"/>
              </a:lnSpc>
              <a:spcAft>
                <a:spcPts val="600"/>
              </a:spcAft>
            </a:pPr>
            <a:r>
              <a:rPr sz="1400">
                <a:solidFill>
                  <a:srgbClr val="E4002B"/>
                </a:solidFill>
                <a:latin typeface="Calibri"/>
              </a:rPr>
              <a:t>▪  </a:t>
            </a:r>
            <a:r>
              <a:rPr sz="1400" b="1">
                <a:solidFill>
                  <a:srgbClr val="D1A23C"/>
                </a:solidFill>
                <a:latin typeface="Calibri"/>
              </a:rPr>
              <a:t>Seguimiento (I)</a:t>
            </a:r>
            <a:r>
              <a:rPr sz="1400" b="0">
                <a:solidFill>
                  <a:srgbClr val="1A1516"/>
                </a:solidFill>
                <a:latin typeface="Calibri"/>
              </a:rPr>
              <a:t> — solo lectura: observa tickets, conversaciones y métricas.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CONCEPTOS BÁSICOS</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El tablero y sus columnas</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sp>
        <p:nvSpPr>
          <p:cNvPr id="6" name="TextBox 5"/>
          <p:cNvSpPr txBox="1"/>
          <p:nvPr/>
        </p:nvSpPr>
        <p:spPr>
          <a:xfrm>
            <a:off x="777240" y="1234440"/>
            <a:ext cx="10607040" cy="548640"/>
          </a:xfrm>
          <a:prstGeom prst="rect">
            <a:avLst/>
          </a:prstGeom>
          <a:noFill/>
        </p:spPr>
        <p:txBody>
          <a:bodyPr wrap="square">
            <a:spAutoFit/>
          </a:bodyPr>
          <a:lstStyle/>
          <a:p>
            <a:pPr algn="l"/>
            <a:r>
              <a:rPr sz="1400" b="0">
                <a:solidFill>
                  <a:srgbClr val="1A1516"/>
                </a:solidFill>
                <a:latin typeface="Calibri"/>
              </a:rPr>
              <a:t>Los tickets avanzan por un tablero kanban. Cada rol ve solo las columnas que le corresponden:</a:t>
            </a:r>
          </a:p>
        </p:txBody>
      </p:sp>
      <p:pic>
        <p:nvPicPr>
          <p:cNvPr id="7" name="Picture 6" descr="cols.png"/>
          <p:cNvPicPr>
            <a:picLocks noChangeAspect="1"/>
          </p:cNvPicPr>
          <p:nvPr/>
        </p:nvPicPr>
        <p:blipFill>
          <a:blip r:embed="rId2"/>
          <a:stretch>
            <a:fillRect/>
          </a:stretch>
        </p:blipFill>
        <p:spPr>
          <a:xfrm>
            <a:off x="1463040" y="1828800"/>
            <a:ext cx="9235440" cy="2441215"/>
          </a:xfrm>
          <a:prstGeom prst="rect">
            <a:avLst/>
          </a:prstGeom>
          <a:ln w="9525">
            <a:solidFill>
              <a:srgbClr val="D8D0D1"/>
            </a:solidFill>
          </a:ln>
          <a:effectLst/>
        </p:spPr>
      </p:pic>
      <p:sp>
        <p:nvSpPr>
          <p:cNvPr id="8" name="TextBox 7"/>
          <p:cNvSpPr txBox="1"/>
          <p:nvPr/>
        </p:nvSpPr>
        <p:spPr>
          <a:xfrm>
            <a:off x="777240" y="5166360"/>
            <a:ext cx="10607040" cy="1280160"/>
          </a:xfrm>
          <a:prstGeom prst="rect">
            <a:avLst/>
          </a:prstGeom>
          <a:noFill/>
        </p:spPr>
        <p:txBody>
          <a:bodyPr wrap="square">
            <a:spAutoFit/>
          </a:bodyPr>
          <a:lstStyle/>
          <a:p>
            <a:pPr>
              <a:lnSpc>
                <a:spcPct val="115000"/>
              </a:lnSpc>
              <a:spcAft>
                <a:spcPts val="600"/>
              </a:spcAft>
            </a:pPr>
            <a:r>
              <a:rPr sz="1300">
                <a:solidFill>
                  <a:srgbClr val="E4002B"/>
                </a:solidFill>
                <a:latin typeface="Calibri"/>
              </a:rPr>
              <a:t>▪  </a:t>
            </a:r>
            <a:r>
              <a:rPr sz="1300" b="1">
                <a:solidFill>
                  <a:srgbClr val="1A1516"/>
                </a:solidFill>
                <a:latin typeface="Calibri"/>
              </a:rPr>
              <a:t>Entrada</a:t>
            </a:r>
            <a:r>
              <a:rPr sz="1300" b="0">
                <a:solidFill>
                  <a:srgbClr val="1A1516"/>
                </a:solidFill>
                <a:latin typeface="Calibri"/>
              </a:rPr>
              <a:t> es la bandeja del Coordinador: tickets creados que aún no tienen ejecutor.</a:t>
            </a:r>
          </a:p>
          <a:p>
            <a:pPr>
              <a:lnSpc>
                <a:spcPct val="115000"/>
              </a:lnSpc>
              <a:spcAft>
                <a:spcPts val="600"/>
              </a:spcAft>
            </a:pPr>
            <a:r>
              <a:rPr sz="1300">
                <a:solidFill>
                  <a:srgbClr val="E4002B"/>
                </a:solidFill>
                <a:latin typeface="Calibri"/>
              </a:rPr>
              <a:t>▪  </a:t>
            </a:r>
            <a:r>
              <a:rPr sz="1300" b="1">
                <a:solidFill>
                  <a:srgbClr val="1A1516"/>
                </a:solidFill>
                <a:latin typeface="Calibri"/>
              </a:rPr>
              <a:t>Suspendido/Cancelado</a:t>
            </a:r>
            <a:r>
              <a:rPr sz="1300" b="0">
                <a:solidFill>
                  <a:srgbClr val="1A1516"/>
                </a:solidFill>
                <a:latin typeface="Calibri"/>
              </a:rPr>
              <a:t> solo lo ven Coordinador y Seguimiento.</a:t>
            </a:r>
          </a:p>
          <a:p>
            <a:pPr>
              <a:lnSpc>
                <a:spcPct val="115000"/>
              </a:lnSpc>
              <a:spcAft>
                <a:spcPts val="600"/>
              </a:spcAft>
            </a:pPr>
            <a:r>
              <a:rPr sz="1300">
                <a:solidFill>
                  <a:srgbClr val="E4002B"/>
                </a:solidFill>
                <a:latin typeface="Calibri"/>
              </a:rPr>
              <a:t>▪  </a:t>
            </a:r>
            <a:r>
              <a:rPr sz="1300" b="0">
                <a:solidFill>
                  <a:srgbClr val="1A1516"/>
                </a:solidFill>
                <a:latin typeface="Calibri"/>
              </a:rPr>
              <a:t>El borde izquierdo de cada card repite el color de su columna; las barras ascendentes indican la prioridad (Baja · Media · Alta · Urgente).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CONCEPTOS BÁSICOS</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Modalidades de un ticket</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sp>
        <p:nvSpPr>
          <p:cNvPr id="6" name="TextBox 5"/>
          <p:cNvSpPr txBox="1"/>
          <p:nvPr/>
        </p:nvSpPr>
        <p:spPr>
          <a:xfrm>
            <a:off x="777240" y="1554480"/>
            <a:ext cx="10607040" cy="2286000"/>
          </a:xfrm>
          <a:prstGeom prst="rect">
            <a:avLst/>
          </a:prstGeom>
          <a:noFill/>
        </p:spPr>
        <p:txBody>
          <a:bodyPr wrap="square">
            <a:spAutoFit/>
          </a:bodyPr>
          <a:lstStyle/>
          <a:p>
            <a:pPr>
              <a:lnSpc>
                <a:spcPct val="115000"/>
              </a:lnSpc>
              <a:spcAft>
                <a:spcPts val="600"/>
              </a:spcAft>
            </a:pPr>
            <a:r>
              <a:rPr sz="1600">
                <a:solidFill>
                  <a:srgbClr val="E4002B"/>
                </a:solidFill>
                <a:latin typeface="Calibri"/>
              </a:rPr>
              <a:t>▪  </a:t>
            </a:r>
            <a:r>
              <a:rPr sz="1600" b="1">
                <a:solidFill>
                  <a:srgbClr val="1A1516"/>
                </a:solidFill>
                <a:latin typeface="Calibri"/>
              </a:rPr>
              <a:t>Individual</a:t>
            </a:r>
            <a:r>
              <a:rPr sz="1600" b="0">
                <a:solidFill>
                  <a:srgbClr val="1A1516"/>
                </a:solidFill>
                <a:latin typeface="Calibri"/>
              </a:rPr>
              <a:t> — un solo ejecutor con su propio subticket.</a:t>
            </a:r>
          </a:p>
          <a:p>
            <a:pPr>
              <a:lnSpc>
                <a:spcPct val="115000"/>
              </a:lnSpc>
              <a:spcAft>
                <a:spcPts val="600"/>
              </a:spcAft>
            </a:pPr>
            <a:r>
              <a:rPr sz="1600">
                <a:solidFill>
                  <a:srgbClr val="E4002B"/>
                </a:solidFill>
                <a:latin typeface="Calibri"/>
              </a:rPr>
              <a:t>▪  </a:t>
            </a:r>
            <a:r>
              <a:rPr sz="1600" b="1">
                <a:solidFill>
                  <a:srgbClr val="1A1516"/>
                </a:solidFill>
                <a:latin typeface="Calibri"/>
              </a:rPr>
              <a:t>Colaborativa</a:t>
            </a:r>
            <a:r>
              <a:rPr sz="1600" b="0">
                <a:solidFill>
                  <a:srgbClr val="1A1516"/>
                </a:solidFill>
                <a:latin typeface="Calibri"/>
              </a:rPr>
              <a:t> (sin subproductos) — varios ejecutores comparten el mismo estado; cualquiera mueve la tarea.</a:t>
            </a:r>
          </a:p>
          <a:p>
            <a:pPr>
              <a:lnSpc>
                <a:spcPct val="115000"/>
              </a:lnSpc>
              <a:spcAft>
                <a:spcPts val="600"/>
              </a:spcAft>
            </a:pPr>
            <a:r>
              <a:rPr sz="1600">
                <a:solidFill>
                  <a:srgbClr val="E4002B"/>
                </a:solidFill>
                <a:latin typeface="Calibri"/>
              </a:rPr>
              <a:t>▪  </a:t>
            </a:r>
            <a:r>
              <a:rPr sz="1600" b="1">
                <a:solidFill>
                  <a:srgbClr val="1A1516"/>
                </a:solidFill>
                <a:latin typeface="Calibri"/>
              </a:rPr>
              <a:t>Con subproductos</a:t>
            </a:r>
            <a:r>
              <a:rPr sz="1600" b="0">
                <a:solidFill>
                  <a:srgbClr val="1A1516"/>
                </a:solidFill>
                <a:latin typeface="Calibri"/>
              </a:rPr>
              <a:t> — cada ejecutor tiene su subticket independiente y avanza a su ritmo. El ticket queda Concluido recién cuando todos los subtickets están concluidos y aprobados.</a:t>
            </a:r>
          </a:p>
        </p:txBody>
      </p:sp>
      <p:sp>
        <p:nvSpPr>
          <p:cNvPr id="7" name="TextBox 6"/>
          <p:cNvSpPr txBox="1"/>
          <p:nvPr/>
        </p:nvSpPr>
        <p:spPr>
          <a:xfrm>
            <a:off x="777240" y="4206240"/>
            <a:ext cx="10607040" cy="548640"/>
          </a:xfrm>
          <a:prstGeom prst="rect">
            <a:avLst/>
          </a:prstGeom>
          <a:noFill/>
        </p:spPr>
        <p:txBody>
          <a:bodyPr wrap="square">
            <a:spAutoFit/>
          </a:bodyPr>
          <a:lstStyle/>
          <a:p>
            <a:pPr algn="l"/>
            <a:r>
              <a:rPr sz="1300" b="0">
                <a:solidFill>
                  <a:srgbClr val="6B6062"/>
                </a:solidFill>
                <a:latin typeface="Calibri"/>
              </a:rPr>
              <a:t>La modalidad se define al crear el ticket y se muestra en su detalle.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NAVEGACIÓN</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La pantalla principal — Coordinador</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pic>
        <p:nvPicPr>
          <p:cNvPr id="6" name="Picture 5" descr="bar-coord.png"/>
          <p:cNvPicPr>
            <a:picLocks noChangeAspect="1"/>
          </p:cNvPicPr>
          <p:nvPr/>
        </p:nvPicPr>
        <p:blipFill>
          <a:blip r:embed="rId2"/>
          <a:stretch>
            <a:fillRect/>
          </a:stretch>
        </p:blipFill>
        <p:spPr>
          <a:xfrm>
            <a:off x="777240" y="1463040"/>
            <a:ext cx="10607040" cy="743168"/>
          </a:xfrm>
          <a:prstGeom prst="rect">
            <a:avLst/>
          </a:prstGeom>
          <a:ln w="9525">
            <a:solidFill>
              <a:srgbClr val="D8D0D1"/>
            </a:solidFill>
          </a:ln>
          <a:effectLst/>
        </p:spPr>
      </p:pic>
      <p:sp>
        <p:nvSpPr>
          <p:cNvPr id="7" name="TextBox 6"/>
          <p:cNvSpPr txBox="1"/>
          <p:nvPr/>
        </p:nvSpPr>
        <p:spPr>
          <a:xfrm>
            <a:off x="777240" y="3017520"/>
            <a:ext cx="10607040" cy="2377440"/>
          </a:xfrm>
          <a:prstGeom prst="rect">
            <a:avLst/>
          </a:prstGeom>
          <a:noFill/>
        </p:spPr>
        <p:txBody>
          <a:bodyPr wrap="square">
            <a:spAutoFit/>
          </a:bodyPr>
          <a:lstStyle/>
          <a:p>
            <a:pPr>
              <a:lnSpc>
                <a:spcPct val="115000"/>
              </a:lnSpc>
              <a:spcAft>
                <a:spcPts val="600"/>
              </a:spcAft>
            </a:pPr>
            <a:r>
              <a:rPr sz="1500">
                <a:solidFill>
                  <a:srgbClr val="E4002B"/>
                </a:solidFill>
                <a:latin typeface="Calibri"/>
              </a:rPr>
              <a:t>▪  </a:t>
            </a:r>
            <a:r>
              <a:rPr sz="1500" b="1">
                <a:solidFill>
                  <a:srgbClr val="1A1516"/>
                </a:solidFill>
                <a:latin typeface="Calibri"/>
              </a:rPr>
              <a:t>Menú completo: </a:t>
            </a:r>
            <a:r>
              <a:rPr sz="1500" b="0">
                <a:solidFill>
                  <a:srgbClr val="1A1516"/>
                </a:solidFill>
                <a:latin typeface="Calibri"/>
              </a:rPr>
              <a:t>Tablero · Mis tickets · Dashboard · Seguimiento · Proyectos · Tipos de Actividad · Cuentas.</a:t>
            </a:r>
          </a:p>
          <a:p>
            <a:pPr>
              <a:lnSpc>
                <a:spcPct val="115000"/>
              </a:lnSpc>
              <a:spcAft>
                <a:spcPts val="600"/>
              </a:spcAft>
            </a:pPr>
            <a:r>
              <a:rPr sz="1500">
                <a:solidFill>
                  <a:srgbClr val="E4002B"/>
                </a:solidFill>
                <a:latin typeface="Calibri"/>
              </a:rPr>
              <a:t>▪  </a:t>
            </a:r>
            <a:r>
              <a:rPr sz="1500" b="1">
                <a:solidFill>
                  <a:srgbClr val="2F7D4F"/>
                </a:solidFill>
                <a:latin typeface="Calibri"/>
              </a:rPr>
              <a:t>+ Ticket</a:t>
            </a:r>
            <a:r>
              <a:rPr sz="1500" b="0">
                <a:solidFill>
                  <a:srgbClr val="1A1516"/>
                </a:solidFill>
                <a:latin typeface="Calibri"/>
              </a:rPr>
              <a:t> — botón para crear un ticket nuevo (solo Coordinador).</a:t>
            </a:r>
          </a:p>
          <a:p>
            <a:pPr>
              <a:lnSpc>
                <a:spcPct val="115000"/>
              </a:lnSpc>
              <a:spcAft>
                <a:spcPts val="600"/>
              </a:spcAft>
            </a:pPr>
            <a:r>
              <a:rPr sz="1500">
                <a:solidFill>
                  <a:srgbClr val="E4002B"/>
                </a:solidFill>
                <a:latin typeface="Calibri"/>
              </a:rPr>
              <a:t>▪  </a:t>
            </a:r>
            <a:r>
              <a:rPr sz="1500" b="1">
                <a:solidFill>
                  <a:srgbClr val="1A1516"/>
                </a:solidFill>
                <a:latin typeface="Calibri"/>
              </a:rPr>
              <a:t>Campanita</a:t>
            </a:r>
            <a:r>
              <a:rPr sz="1500" b="0">
                <a:solidFill>
                  <a:srgbClr val="1A1516"/>
                </a:solidFill>
                <a:latin typeface="Calibri"/>
              </a:rPr>
              <a:t> — notificaciones dentro de la app; el número indica las no leídas.</a:t>
            </a:r>
          </a:p>
          <a:p>
            <a:pPr>
              <a:lnSpc>
                <a:spcPct val="115000"/>
              </a:lnSpc>
              <a:spcAft>
                <a:spcPts val="600"/>
              </a:spcAft>
            </a:pPr>
            <a:r>
              <a:rPr sz="1500">
                <a:solidFill>
                  <a:srgbClr val="E4002B"/>
                </a:solidFill>
                <a:latin typeface="Calibri"/>
              </a:rPr>
              <a:t>▪  </a:t>
            </a:r>
            <a:r>
              <a:rPr sz="1500" b="1">
                <a:solidFill>
                  <a:srgbClr val="1A1516"/>
                </a:solidFill>
                <a:latin typeface="Calibri"/>
              </a:rPr>
              <a:t>Menú de usuario</a:t>
            </a:r>
            <a:r>
              <a:rPr sz="1500" b="0">
                <a:solidFill>
                  <a:srgbClr val="1A1516"/>
                </a:solidFill>
                <a:latin typeface="Calibri"/>
              </a:rPr>
              <a:t> — avatar con el rol debajo; abre Archivados, Mi perfil y Cerrar sesión.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NAVEGACIÓN</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La pantalla principal — Ejecutor, Experto y Seguimiento</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sp>
        <p:nvSpPr>
          <p:cNvPr id="6" name="TextBox 5"/>
          <p:cNvSpPr txBox="1"/>
          <p:nvPr/>
        </p:nvSpPr>
        <p:spPr>
          <a:xfrm>
            <a:off x="777240" y="1417320"/>
            <a:ext cx="10607040" cy="274320"/>
          </a:xfrm>
          <a:prstGeom prst="rect">
            <a:avLst/>
          </a:prstGeom>
          <a:noFill/>
        </p:spPr>
        <p:txBody>
          <a:bodyPr wrap="square">
            <a:spAutoFit/>
          </a:bodyPr>
          <a:lstStyle/>
          <a:p>
            <a:pPr algn="l"/>
            <a:r>
              <a:rPr sz="1200" b="1">
                <a:solidFill>
                  <a:srgbClr val="6B6062"/>
                </a:solidFill>
                <a:latin typeface="Calibri"/>
              </a:rPr>
              <a:t>Ejecutor: Tablero · Mis tickets</a:t>
            </a:r>
          </a:p>
        </p:txBody>
      </p:sp>
      <p:pic>
        <p:nvPicPr>
          <p:cNvPr id="7" name="Picture 6" descr="bar-ejec.png"/>
          <p:cNvPicPr>
            <a:picLocks noChangeAspect="1"/>
          </p:cNvPicPr>
          <p:nvPr/>
        </p:nvPicPr>
        <p:blipFill>
          <a:blip r:embed="rId2"/>
          <a:stretch>
            <a:fillRect/>
          </a:stretch>
        </p:blipFill>
        <p:spPr>
          <a:xfrm>
            <a:off x="777240" y="1709928"/>
            <a:ext cx="10607040" cy="743168"/>
          </a:xfrm>
          <a:prstGeom prst="rect">
            <a:avLst/>
          </a:prstGeom>
          <a:ln w="9525">
            <a:solidFill>
              <a:srgbClr val="D8D0D1"/>
            </a:solidFill>
          </a:ln>
          <a:effectLst/>
        </p:spPr>
      </p:pic>
      <p:sp>
        <p:nvSpPr>
          <p:cNvPr id="8" name="TextBox 7"/>
          <p:cNvSpPr txBox="1"/>
          <p:nvPr/>
        </p:nvSpPr>
        <p:spPr>
          <a:xfrm>
            <a:off x="777240" y="3063240"/>
            <a:ext cx="10607040" cy="274320"/>
          </a:xfrm>
          <a:prstGeom prst="rect">
            <a:avLst/>
          </a:prstGeom>
          <a:noFill/>
        </p:spPr>
        <p:txBody>
          <a:bodyPr wrap="square">
            <a:spAutoFit/>
          </a:bodyPr>
          <a:lstStyle/>
          <a:p>
            <a:pPr algn="l"/>
            <a:r>
              <a:rPr sz="1200" b="1">
                <a:solidFill>
                  <a:srgbClr val="6B6062"/>
                </a:solidFill>
                <a:latin typeface="Calibri"/>
              </a:rPr>
              <a:t>Experto: Tablero · Mis tickets · Dashboard</a:t>
            </a:r>
          </a:p>
        </p:txBody>
      </p:sp>
      <p:pic>
        <p:nvPicPr>
          <p:cNvPr id="9" name="Picture 8" descr="bar-exp.png"/>
          <p:cNvPicPr>
            <a:picLocks noChangeAspect="1"/>
          </p:cNvPicPr>
          <p:nvPr/>
        </p:nvPicPr>
        <p:blipFill>
          <a:blip r:embed="rId3"/>
          <a:stretch>
            <a:fillRect/>
          </a:stretch>
        </p:blipFill>
        <p:spPr>
          <a:xfrm>
            <a:off x="777240" y="3355848"/>
            <a:ext cx="10607040" cy="743168"/>
          </a:xfrm>
          <a:prstGeom prst="rect">
            <a:avLst/>
          </a:prstGeom>
          <a:ln w="9525">
            <a:solidFill>
              <a:srgbClr val="D8D0D1"/>
            </a:solidFill>
          </a:ln>
          <a:effectLst/>
        </p:spPr>
      </p:pic>
      <p:sp>
        <p:nvSpPr>
          <p:cNvPr id="10" name="TextBox 9"/>
          <p:cNvSpPr txBox="1"/>
          <p:nvPr/>
        </p:nvSpPr>
        <p:spPr>
          <a:xfrm>
            <a:off x="777240" y="4709160"/>
            <a:ext cx="10607040" cy="274320"/>
          </a:xfrm>
          <a:prstGeom prst="rect">
            <a:avLst/>
          </a:prstGeom>
          <a:noFill/>
        </p:spPr>
        <p:txBody>
          <a:bodyPr wrap="square">
            <a:spAutoFit/>
          </a:bodyPr>
          <a:lstStyle/>
          <a:p>
            <a:pPr algn="l"/>
            <a:r>
              <a:rPr sz="1200" b="1">
                <a:solidFill>
                  <a:srgbClr val="6B6062"/>
                </a:solidFill>
                <a:latin typeface="Calibri"/>
              </a:rPr>
              <a:t>Seguimiento: Tablero · Mis tickets · Dashboard · Seguimiento</a:t>
            </a:r>
          </a:p>
        </p:txBody>
      </p:sp>
      <p:pic>
        <p:nvPicPr>
          <p:cNvPr id="11" name="Picture 10" descr="bar-seg.png"/>
          <p:cNvPicPr>
            <a:picLocks noChangeAspect="1"/>
          </p:cNvPicPr>
          <p:nvPr/>
        </p:nvPicPr>
        <p:blipFill>
          <a:blip r:embed="rId4"/>
          <a:stretch>
            <a:fillRect/>
          </a:stretch>
        </p:blipFill>
        <p:spPr>
          <a:xfrm>
            <a:off x="777240" y="5001768"/>
            <a:ext cx="10607040" cy="743168"/>
          </a:xfrm>
          <a:prstGeom prst="rect">
            <a:avLst/>
          </a:prstGeom>
          <a:ln w="9525">
            <a:solidFill>
              <a:srgbClr val="D8D0D1"/>
            </a:solidFill>
          </a:ln>
          <a:effectLst/>
        </p:spPr>
      </p:pic>
      <p:sp>
        <p:nvSpPr>
          <p:cNvPr id="12" name="TextBox 11"/>
          <p:cNvSpPr txBox="1"/>
          <p:nvPr/>
        </p:nvSpPr>
        <p:spPr>
          <a:xfrm>
            <a:off x="777240" y="6400800"/>
            <a:ext cx="10607040" cy="457200"/>
          </a:xfrm>
          <a:prstGeom prst="rect">
            <a:avLst/>
          </a:prstGeom>
          <a:noFill/>
        </p:spPr>
        <p:txBody>
          <a:bodyPr wrap="square">
            <a:spAutoFit/>
          </a:bodyPr>
          <a:lstStyle/>
          <a:p>
            <a:pPr algn="l"/>
            <a:r>
              <a:rPr sz="1300" b="0">
                <a:solidFill>
                  <a:srgbClr val="6B6062"/>
                </a:solidFill>
                <a:latin typeface="Calibri"/>
              </a:rPr>
              <a:t>Cada rol ve únicamente las secciones que puede usar.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FLUJO DE TRABAJO</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El ciclo de vida de un ticket</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pic>
        <p:nvPicPr>
          <p:cNvPr id="6" name="Picture 5" descr="flow.png"/>
          <p:cNvPicPr>
            <a:picLocks noChangeAspect="1"/>
          </p:cNvPicPr>
          <p:nvPr/>
        </p:nvPicPr>
        <p:blipFill>
          <a:blip r:embed="rId2"/>
          <a:stretch>
            <a:fillRect/>
          </a:stretch>
        </p:blipFill>
        <p:spPr>
          <a:xfrm>
            <a:off x="777240" y="1417320"/>
            <a:ext cx="10607040" cy="1227353"/>
          </a:xfrm>
          <a:prstGeom prst="rect">
            <a:avLst/>
          </a:prstGeom>
        </p:spPr>
      </p:pic>
      <p:sp>
        <p:nvSpPr>
          <p:cNvPr id="7" name="TextBox 6"/>
          <p:cNvSpPr txBox="1"/>
          <p:nvPr/>
        </p:nvSpPr>
        <p:spPr>
          <a:xfrm>
            <a:off x="777240" y="3246120"/>
            <a:ext cx="10607040" cy="2834640"/>
          </a:xfrm>
          <a:prstGeom prst="rect">
            <a:avLst/>
          </a:prstGeom>
          <a:noFill/>
        </p:spPr>
        <p:txBody>
          <a:bodyPr wrap="square">
            <a:spAutoFit/>
          </a:bodyPr>
          <a:lstStyle/>
          <a:p>
            <a:pPr>
              <a:lnSpc>
                <a:spcPct val="115000"/>
              </a:lnSpc>
              <a:spcAft>
                <a:spcPts val="600"/>
              </a:spcAft>
            </a:pPr>
            <a:r>
              <a:rPr sz="1400">
                <a:solidFill>
                  <a:srgbClr val="E4002B"/>
                </a:solidFill>
                <a:latin typeface="Calibri"/>
              </a:rPr>
              <a:t>▪  </a:t>
            </a:r>
            <a:r>
              <a:rPr sz="1400" b="1">
                <a:solidFill>
                  <a:srgbClr val="1A1516"/>
                </a:solidFill>
                <a:latin typeface="Calibri"/>
              </a:rPr>
              <a:t>Pendiente de aprobación</a:t>
            </a:r>
            <a:r>
              <a:rPr sz="1400" b="0">
                <a:solidFill>
                  <a:srgbClr val="1A1516"/>
                </a:solidFill>
                <a:latin typeface="Calibri"/>
              </a:rPr>
              <a:t> — al concluir el ejecutor, el Coordinador debe Aprobar (queda definitivo) o Rechazar con motivo obligatorio (vuelve a En progreso).</a:t>
            </a:r>
          </a:p>
          <a:p>
            <a:pPr>
              <a:lnSpc>
                <a:spcPct val="115000"/>
              </a:lnSpc>
              <a:spcAft>
                <a:spcPts val="600"/>
              </a:spcAft>
            </a:pPr>
            <a:r>
              <a:rPr sz="1400">
                <a:solidFill>
                  <a:srgbClr val="E4002B"/>
                </a:solidFill>
                <a:latin typeface="Calibri"/>
              </a:rPr>
              <a:t>▪  </a:t>
            </a:r>
            <a:r>
              <a:rPr sz="1400" b="1">
                <a:solidFill>
                  <a:srgbClr val="1A1516"/>
                </a:solidFill>
                <a:latin typeface="Calibri"/>
              </a:rPr>
              <a:t>Suspensión</a:t>
            </a:r>
            <a:r>
              <a:rPr sz="1400" b="0">
                <a:solidFill>
                  <a:srgbClr val="1A1516"/>
                </a:solidFill>
                <a:latin typeface="Calibri"/>
              </a:rPr>
              <a:t> — el Coordinador puede bloquear un ticket («Bloqueado por coordinador»); al reactivarlo vuelve al estado que tenía.</a:t>
            </a:r>
          </a:p>
          <a:p>
            <a:pPr>
              <a:lnSpc>
                <a:spcPct val="115000"/>
              </a:lnSpc>
              <a:spcAft>
                <a:spcPts val="600"/>
              </a:spcAft>
            </a:pPr>
            <a:r>
              <a:rPr sz="1400">
                <a:solidFill>
                  <a:srgbClr val="E4002B"/>
                </a:solidFill>
                <a:latin typeface="Calibri"/>
              </a:rPr>
              <a:t>▪  </a:t>
            </a:r>
            <a:r>
              <a:rPr sz="1400" b="1">
                <a:solidFill>
                  <a:srgbClr val="1A1516"/>
                </a:solidFill>
                <a:latin typeface="Calibri"/>
              </a:rPr>
              <a:t>Archivo</a:t>
            </a:r>
            <a:r>
              <a:rPr sz="1400" b="0">
                <a:solidFill>
                  <a:srgbClr val="1A1516"/>
                </a:solidFill>
                <a:latin typeface="Calibri"/>
              </a:rPr>
              <a:t> — los Concluidos o Suspendidos se archivan para despejar el tablero; se consultan en Archivados.</a:t>
            </a:r>
          </a:p>
          <a:p>
            <a:pPr>
              <a:lnSpc>
                <a:spcPct val="115000"/>
              </a:lnSpc>
              <a:spcAft>
                <a:spcPts val="600"/>
              </a:spcAft>
            </a:pPr>
            <a:r>
              <a:rPr sz="1400">
                <a:solidFill>
                  <a:srgbClr val="E4002B"/>
                </a:solidFill>
                <a:latin typeface="Calibri"/>
              </a:rPr>
              <a:t>▪  </a:t>
            </a:r>
            <a:r>
              <a:rPr sz="1400" b="1">
                <a:solidFill>
                  <a:srgbClr val="1A1516"/>
                </a:solidFill>
                <a:latin typeface="Calibri"/>
              </a:rPr>
              <a:t>Vencimiento</a:t>
            </a:r>
            <a:r>
              <a:rPr sz="1400" b="0">
                <a:solidFill>
                  <a:srgbClr val="1A1516"/>
                </a:solidFill>
                <a:latin typeface="Calibri"/>
              </a:rPr>
              <a:t> — pasada la fecha, destella en rojo y el sistema avisa por notificación.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TABLERO</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El tablero del Coordinador</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pic>
        <p:nvPicPr>
          <p:cNvPr id="6" name="Picture 5" descr="board-coord.png"/>
          <p:cNvPicPr>
            <a:picLocks noChangeAspect="1"/>
          </p:cNvPicPr>
          <p:nvPr/>
        </p:nvPicPr>
        <p:blipFill>
          <a:blip r:embed="rId2"/>
          <a:stretch>
            <a:fillRect/>
          </a:stretch>
        </p:blipFill>
        <p:spPr>
          <a:xfrm>
            <a:off x="1440811" y="1417320"/>
            <a:ext cx="9279897" cy="3566160"/>
          </a:xfrm>
          <a:prstGeom prst="rect">
            <a:avLst/>
          </a:prstGeom>
          <a:ln w="9525">
            <a:solidFill>
              <a:srgbClr val="D8D0D1"/>
            </a:solidFill>
          </a:ln>
          <a:effectLst/>
        </p:spPr>
      </p:pic>
      <p:sp>
        <p:nvSpPr>
          <p:cNvPr id="7" name="TextBox 6"/>
          <p:cNvSpPr txBox="1"/>
          <p:nvPr/>
        </p:nvSpPr>
        <p:spPr>
          <a:xfrm>
            <a:off x="777240" y="5257800"/>
            <a:ext cx="10607040" cy="1097280"/>
          </a:xfrm>
          <a:prstGeom prst="rect">
            <a:avLst/>
          </a:prstGeom>
          <a:noFill/>
        </p:spPr>
        <p:txBody>
          <a:bodyPr wrap="square">
            <a:spAutoFit/>
          </a:bodyPr>
          <a:lstStyle/>
          <a:p>
            <a:pPr>
              <a:lnSpc>
                <a:spcPct val="115000"/>
              </a:lnSpc>
              <a:spcAft>
                <a:spcPts val="600"/>
              </a:spcAft>
            </a:pPr>
            <a:r>
              <a:rPr sz="1300">
                <a:solidFill>
                  <a:srgbClr val="E4002B"/>
                </a:solidFill>
                <a:latin typeface="Calibri"/>
              </a:rPr>
              <a:t>▪  </a:t>
            </a:r>
            <a:r>
              <a:rPr sz="1300" b="0">
                <a:solidFill>
                  <a:srgbClr val="1A1516"/>
                </a:solidFill>
                <a:latin typeface="Calibri"/>
              </a:rPr>
              <a:t>Cards = tickets completos, de todo el equipo. Se mueven arrastrándolas de columna a columna.</a:t>
            </a:r>
          </a:p>
          <a:p>
            <a:pPr>
              <a:lnSpc>
                <a:spcPct val="115000"/>
              </a:lnSpc>
              <a:spcAft>
                <a:spcPts val="600"/>
              </a:spcAft>
            </a:pPr>
            <a:r>
              <a:rPr sz="1300">
                <a:solidFill>
                  <a:srgbClr val="E4002B"/>
                </a:solidFill>
                <a:latin typeface="Calibri"/>
              </a:rPr>
              <a:t>▪  </a:t>
            </a:r>
            <a:r>
              <a:rPr sz="1300" b="0">
                <a:solidFill>
                  <a:srgbClr val="1A1516"/>
                </a:solidFill>
                <a:latin typeface="Calibri"/>
              </a:rPr>
              <a:t>Ve las 5 columnas, incluida Entrada (pendientes por asignar) y Suspendido/Cancelado.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TABLERO</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El tablero del Ejecutor</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pic>
        <p:nvPicPr>
          <p:cNvPr id="6" name="Picture 5" descr="board-ejec.png"/>
          <p:cNvPicPr>
            <a:picLocks noChangeAspect="1"/>
          </p:cNvPicPr>
          <p:nvPr/>
        </p:nvPicPr>
        <p:blipFill>
          <a:blip r:embed="rId2"/>
          <a:stretch>
            <a:fillRect/>
          </a:stretch>
        </p:blipFill>
        <p:spPr>
          <a:xfrm>
            <a:off x="777240" y="1417320"/>
            <a:ext cx="10607040" cy="3242916"/>
          </a:xfrm>
          <a:prstGeom prst="rect">
            <a:avLst/>
          </a:prstGeom>
          <a:ln w="9525">
            <a:solidFill>
              <a:srgbClr val="D8D0D1"/>
            </a:solidFill>
          </a:ln>
          <a:effectLst/>
        </p:spPr>
      </p:pic>
      <p:sp>
        <p:nvSpPr>
          <p:cNvPr id="7" name="TextBox 6"/>
          <p:cNvSpPr txBox="1"/>
          <p:nvPr/>
        </p:nvSpPr>
        <p:spPr>
          <a:xfrm>
            <a:off x="777240" y="4983480"/>
            <a:ext cx="10607040" cy="1463040"/>
          </a:xfrm>
          <a:prstGeom prst="rect">
            <a:avLst/>
          </a:prstGeom>
          <a:noFill/>
        </p:spPr>
        <p:txBody>
          <a:bodyPr wrap="square">
            <a:spAutoFit/>
          </a:bodyPr>
          <a:lstStyle/>
          <a:p>
            <a:pPr>
              <a:lnSpc>
                <a:spcPct val="115000"/>
              </a:lnSpc>
              <a:spcAft>
                <a:spcPts val="600"/>
              </a:spcAft>
            </a:pPr>
            <a:r>
              <a:rPr sz="1300">
                <a:solidFill>
                  <a:srgbClr val="E4002B"/>
                </a:solidFill>
                <a:latin typeface="Calibri"/>
              </a:rPr>
              <a:t>▪  </a:t>
            </a:r>
            <a:r>
              <a:rPr sz="1300" b="0">
                <a:solidFill>
                  <a:srgbClr val="1A1516"/>
                </a:solidFill>
                <a:latin typeface="Calibri"/>
              </a:rPr>
              <a:t>Cards = tus subtickets. Arrastrá a En progreso al empezar y a Concluido al terminar.</a:t>
            </a:r>
          </a:p>
          <a:p>
            <a:pPr>
              <a:lnSpc>
                <a:spcPct val="115000"/>
              </a:lnSpc>
              <a:spcAft>
                <a:spcPts val="600"/>
              </a:spcAft>
            </a:pPr>
            <a:r>
              <a:rPr sz="1300">
                <a:solidFill>
                  <a:srgbClr val="E4002B"/>
                </a:solidFill>
                <a:latin typeface="Calibri"/>
              </a:rPr>
              <a:t>▪  </a:t>
            </a:r>
            <a:r>
              <a:rPr sz="1300" b="0">
                <a:solidFill>
                  <a:srgbClr val="1A1516"/>
                </a:solidFill>
                <a:latin typeface="Calibri"/>
              </a:rPr>
              <a:t>Las cards atenuadas (fantasma) son subtickets de tus compañeros: se ven, no se mueven.</a:t>
            </a:r>
          </a:p>
          <a:p>
            <a:pPr>
              <a:lnSpc>
                <a:spcPct val="115000"/>
              </a:lnSpc>
              <a:spcAft>
                <a:spcPts val="600"/>
              </a:spcAft>
            </a:pPr>
            <a:r>
              <a:rPr sz="1300">
                <a:solidFill>
                  <a:srgbClr val="E4002B"/>
                </a:solidFill>
                <a:latin typeface="Calibri"/>
              </a:rPr>
              <a:t>▪  </a:t>
            </a:r>
            <a:r>
              <a:rPr sz="1300" b="0">
                <a:solidFill>
                  <a:srgbClr val="1A1516"/>
                </a:solidFill>
                <a:latin typeface="Calibri"/>
              </a:rPr>
              <a:t>«sin aprobar» = concluiste y falta la revisión del Coordinador. No ves Entrada ni Suspendido.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TABLERO</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Los tableros de Experto y Seguimiento</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sp>
        <p:nvSpPr>
          <p:cNvPr id="6" name="TextBox 5"/>
          <p:cNvSpPr txBox="1"/>
          <p:nvPr/>
        </p:nvSpPr>
        <p:spPr>
          <a:xfrm>
            <a:off x="777240" y="1371600"/>
            <a:ext cx="5120640" cy="274320"/>
          </a:xfrm>
          <a:prstGeom prst="rect">
            <a:avLst/>
          </a:prstGeom>
          <a:noFill/>
        </p:spPr>
        <p:txBody>
          <a:bodyPr wrap="square">
            <a:spAutoFit/>
          </a:bodyPr>
          <a:lstStyle/>
          <a:p>
            <a:pPr algn="l"/>
            <a:r>
              <a:rPr sz="1200" b="1">
                <a:solidFill>
                  <a:srgbClr val="6B6062"/>
                </a:solidFill>
                <a:latin typeface="Calibri"/>
              </a:rPr>
              <a:t>Experto — solo los tickets donde participa</a:t>
            </a:r>
          </a:p>
        </p:txBody>
      </p:sp>
      <p:pic>
        <p:nvPicPr>
          <p:cNvPr id="7" name="Picture 6" descr="board-exp.png"/>
          <p:cNvPicPr>
            <a:picLocks noChangeAspect="1"/>
          </p:cNvPicPr>
          <p:nvPr/>
        </p:nvPicPr>
        <p:blipFill>
          <a:blip r:embed="rId2"/>
          <a:stretch>
            <a:fillRect/>
          </a:stretch>
        </p:blipFill>
        <p:spPr>
          <a:xfrm>
            <a:off x="777240" y="1691640"/>
            <a:ext cx="5120640" cy="1163287"/>
          </a:xfrm>
          <a:prstGeom prst="rect">
            <a:avLst/>
          </a:prstGeom>
          <a:ln w="9525">
            <a:solidFill>
              <a:srgbClr val="D8D0D1"/>
            </a:solidFill>
          </a:ln>
          <a:effectLst/>
        </p:spPr>
      </p:pic>
      <p:sp>
        <p:nvSpPr>
          <p:cNvPr id="8" name="TextBox 7"/>
          <p:cNvSpPr txBox="1"/>
          <p:nvPr/>
        </p:nvSpPr>
        <p:spPr>
          <a:xfrm>
            <a:off x="6309360" y="1371600"/>
            <a:ext cx="5120640" cy="274320"/>
          </a:xfrm>
          <a:prstGeom prst="rect">
            <a:avLst/>
          </a:prstGeom>
          <a:noFill/>
        </p:spPr>
        <p:txBody>
          <a:bodyPr wrap="square">
            <a:spAutoFit/>
          </a:bodyPr>
          <a:lstStyle/>
          <a:p>
            <a:pPr algn="l"/>
            <a:r>
              <a:rPr sz="1200" b="1">
                <a:solidFill>
                  <a:srgbClr val="6B6062"/>
                </a:solidFill>
                <a:latin typeface="Calibri"/>
              </a:rPr>
              <a:t>Seguimiento — todos los tickets, solo lectura</a:t>
            </a:r>
          </a:p>
        </p:txBody>
      </p:sp>
      <p:pic>
        <p:nvPicPr>
          <p:cNvPr id="9" name="Picture 8" descr="board-seg.png"/>
          <p:cNvPicPr>
            <a:picLocks noChangeAspect="1"/>
          </p:cNvPicPr>
          <p:nvPr/>
        </p:nvPicPr>
        <p:blipFill>
          <a:blip r:embed="rId3"/>
          <a:stretch>
            <a:fillRect/>
          </a:stretch>
        </p:blipFill>
        <p:spPr>
          <a:xfrm>
            <a:off x="6309360" y="1691640"/>
            <a:ext cx="5120640" cy="1657956"/>
          </a:xfrm>
          <a:prstGeom prst="rect">
            <a:avLst/>
          </a:prstGeom>
          <a:ln w="9525">
            <a:solidFill>
              <a:srgbClr val="D8D0D1"/>
            </a:solidFill>
          </a:ln>
          <a:effectLst/>
        </p:spPr>
      </p:pic>
      <p:sp>
        <p:nvSpPr>
          <p:cNvPr id="10" name="TextBox 9"/>
          <p:cNvSpPr txBox="1"/>
          <p:nvPr/>
        </p:nvSpPr>
        <p:spPr>
          <a:xfrm>
            <a:off x="777240" y="5074920"/>
            <a:ext cx="10607040" cy="1097280"/>
          </a:xfrm>
          <a:prstGeom prst="rect">
            <a:avLst/>
          </a:prstGeom>
          <a:noFill/>
        </p:spPr>
        <p:txBody>
          <a:bodyPr wrap="square">
            <a:spAutoFit/>
          </a:bodyPr>
          <a:lstStyle/>
          <a:p>
            <a:pPr>
              <a:lnSpc>
                <a:spcPct val="115000"/>
              </a:lnSpc>
              <a:spcAft>
                <a:spcPts val="600"/>
              </a:spcAft>
            </a:pPr>
            <a:r>
              <a:rPr sz="1300">
                <a:solidFill>
                  <a:srgbClr val="E4002B"/>
                </a:solidFill>
                <a:latin typeface="Calibri"/>
              </a:rPr>
              <a:t>▪  </a:t>
            </a:r>
            <a:r>
              <a:rPr sz="1300" b="0">
                <a:solidFill>
                  <a:srgbClr val="1A1516"/>
                </a:solidFill>
                <a:latin typeface="Calibri"/>
              </a:rPr>
              <a:t>Ambos ven cards de tickets completos y no las arrastran.</a:t>
            </a:r>
          </a:p>
          <a:p>
            <a:pPr>
              <a:lnSpc>
                <a:spcPct val="115000"/>
              </a:lnSpc>
              <a:spcAft>
                <a:spcPts val="600"/>
              </a:spcAft>
            </a:pPr>
            <a:r>
              <a:rPr sz="1300">
                <a:solidFill>
                  <a:srgbClr val="E4002B"/>
                </a:solidFill>
                <a:latin typeface="Calibri"/>
              </a:rPr>
              <a:t>▪  </a:t>
            </a:r>
            <a:r>
              <a:rPr sz="1300" b="0">
                <a:solidFill>
                  <a:srgbClr val="1A1516"/>
                </a:solidFill>
                <a:latin typeface="Calibri"/>
              </a:rPr>
              <a:t>Seguimiento es el único rol no administrativo que ve la columna Suspendido/Cancelado.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TRABAJAR UN TICKET</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El detalle de un ticket</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pic>
        <p:nvPicPr>
          <p:cNvPr id="6" name="Picture 5" descr="detail-coord.png"/>
          <p:cNvPicPr>
            <a:picLocks noChangeAspect="1"/>
          </p:cNvPicPr>
          <p:nvPr/>
        </p:nvPicPr>
        <p:blipFill>
          <a:blip r:embed="rId2"/>
          <a:stretch>
            <a:fillRect/>
          </a:stretch>
        </p:blipFill>
        <p:spPr>
          <a:xfrm>
            <a:off x="3329178" y="1371600"/>
            <a:ext cx="5503164" cy="4206240"/>
          </a:xfrm>
          <a:prstGeom prst="rect">
            <a:avLst/>
          </a:prstGeom>
          <a:ln w="9525">
            <a:solidFill>
              <a:srgbClr val="D8D0D1"/>
            </a:solidFill>
          </a:ln>
          <a:effectLst/>
        </p:spPr>
      </p:pic>
      <p:sp>
        <p:nvSpPr>
          <p:cNvPr id="7" name="TextBox 6"/>
          <p:cNvSpPr txBox="1"/>
          <p:nvPr/>
        </p:nvSpPr>
        <p:spPr>
          <a:xfrm>
            <a:off x="777240" y="5715000"/>
            <a:ext cx="10607040" cy="914400"/>
          </a:xfrm>
          <a:prstGeom prst="rect">
            <a:avLst/>
          </a:prstGeom>
          <a:noFill/>
        </p:spPr>
        <p:txBody>
          <a:bodyPr wrap="square">
            <a:spAutoFit/>
          </a:bodyPr>
          <a:lstStyle/>
          <a:p>
            <a:pPr>
              <a:lnSpc>
                <a:spcPct val="115000"/>
              </a:lnSpc>
              <a:spcAft>
                <a:spcPts val="600"/>
              </a:spcAft>
            </a:pPr>
            <a:r>
              <a:rPr sz="1300">
                <a:solidFill>
                  <a:srgbClr val="E4002B"/>
                </a:solidFill>
                <a:latin typeface="Calibri"/>
              </a:rPr>
              <a:t>▪  </a:t>
            </a:r>
            <a:r>
              <a:rPr sz="1300" b="0">
                <a:solidFill>
                  <a:srgbClr val="1A1516"/>
                </a:solidFill>
                <a:latin typeface="Calibri"/>
              </a:rPr>
              <a:t>Izquierda: datos, modalidad, subtickets de cada ejecutor con sus tiempos, y las acciones de gestión (solo Coordinador).</a:t>
            </a:r>
          </a:p>
          <a:p>
            <a:pPr>
              <a:lnSpc>
                <a:spcPct val="115000"/>
              </a:lnSpc>
              <a:spcAft>
                <a:spcPts val="600"/>
              </a:spcAft>
            </a:pPr>
            <a:r>
              <a:rPr sz="1300">
                <a:solidFill>
                  <a:srgbClr val="E4002B"/>
                </a:solidFill>
                <a:latin typeface="Calibri"/>
              </a:rPr>
              <a:t>▪  </a:t>
            </a:r>
            <a:r>
              <a:rPr sz="1300" b="0">
                <a:solidFill>
                  <a:srgbClr val="1A1516"/>
                </a:solidFill>
                <a:latin typeface="Calibri"/>
              </a:rPr>
              <a:t>Derecha: el chat de Seguimiento en tiempo real, con adjuntos.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GESTIÓN</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Crear un ticket (Coordinador)</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pic>
        <p:nvPicPr>
          <p:cNvPr id="6" name="Picture 5" descr="form.png"/>
          <p:cNvPicPr>
            <a:picLocks noChangeAspect="1"/>
          </p:cNvPicPr>
          <p:nvPr/>
        </p:nvPicPr>
        <p:blipFill>
          <a:blip r:embed="rId2"/>
          <a:stretch>
            <a:fillRect/>
          </a:stretch>
        </p:blipFill>
        <p:spPr>
          <a:xfrm>
            <a:off x="2926080" y="1371600"/>
            <a:ext cx="6400800" cy="3900275"/>
          </a:xfrm>
          <a:prstGeom prst="rect">
            <a:avLst/>
          </a:prstGeom>
          <a:ln w="9525">
            <a:solidFill>
              <a:srgbClr val="D8D0D1"/>
            </a:solidFill>
          </a:ln>
          <a:effectLst/>
        </p:spPr>
      </p:pic>
      <p:sp>
        <p:nvSpPr>
          <p:cNvPr id="7" name="TextBox 6"/>
          <p:cNvSpPr txBox="1"/>
          <p:nvPr/>
        </p:nvSpPr>
        <p:spPr>
          <a:xfrm>
            <a:off x="777240" y="5715000"/>
            <a:ext cx="10607040" cy="1005840"/>
          </a:xfrm>
          <a:prstGeom prst="rect">
            <a:avLst/>
          </a:prstGeom>
          <a:noFill/>
        </p:spPr>
        <p:txBody>
          <a:bodyPr wrap="square">
            <a:spAutoFit/>
          </a:bodyPr>
          <a:lstStyle/>
          <a:p>
            <a:pPr>
              <a:lnSpc>
                <a:spcPct val="115000"/>
              </a:lnSpc>
              <a:spcAft>
                <a:spcPts val="600"/>
              </a:spcAft>
            </a:pPr>
            <a:r>
              <a:rPr sz="1300">
                <a:solidFill>
                  <a:srgbClr val="E4002B"/>
                </a:solidFill>
                <a:latin typeface="Calibri"/>
              </a:rPr>
              <a:t>▪  </a:t>
            </a:r>
            <a:r>
              <a:rPr sz="1300" b="0">
                <a:solidFill>
                  <a:srgbClr val="1A1516"/>
                </a:solidFill>
                <a:latin typeface="Calibri"/>
              </a:rPr>
              <a:t>Título, solicitante, descripción, proyecto, prioridad, vencimiento y tipos de actividad.</a:t>
            </a:r>
          </a:p>
          <a:p>
            <a:pPr>
              <a:lnSpc>
                <a:spcPct val="115000"/>
              </a:lnSpc>
              <a:spcAft>
                <a:spcPts val="600"/>
              </a:spcAft>
            </a:pPr>
            <a:r>
              <a:rPr sz="1300">
                <a:solidFill>
                  <a:srgbClr val="E4002B"/>
                </a:solidFill>
                <a:latin typeface="Calibri"/>
              </a:rPr>
              <a:t>▪  </a:t>
            </a:r>
            <a:r>
              <a:rPr sz="1300" b="1">
                <a:solidFill>
                  <a:srgbClr val="1A1516"/>
                </a:solidFill>
                <a:latin typeface="Calibri"/>
              </a:rPr>
              <a:t>Con subproductos</a:t>
            </a:r>
            <a:r>
              <a:rPr sz="1300" b="0">
                <a:solidFill>
                  <a:srgbClr val="1A1516"/>
                </a:solidFill>
                <a:latin typeface="Calibri"/>
              </a:rPr>
              <a:t>: cada ejecutor entrega algo propio; si no, la modalidad es colaborativa.</a:t>
            </a:r>
          </a:p>
          <a:p>
            <a:pPr>
              <a:lnSpc>
                <a:spcPct val="115000"/>
              </a:lnSpc>
              <a:spcAft>
                <a:spcPts val="600"/>
              </a:spcAft>
            </a:pPr>
            <a:r>
              <a:rPr sz="1300">
                <a:solidFill>
                  <a:srgbClr val="E4002B"/>
                </a:solidFill>
                <a:latin typeface="Calibri"/>
              </a:rPr>
              <a:t>▪  </a:t>
            </a:r>
            <a:r>
              <a:rPr sz="1300" b="0">
                <a:solidFill>
                  <a:srgbClr val="1A1516"/>
                </a:solidFill>
                <a:latin typeface="Calibri"/>
              </a:rPr>
              <a:t>Sin ejecutores el ticket queda en Entrada; al asignar pasa a «Por hacer» y se notifica.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GESTIÓN</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Aprobar o rechazar una conclusión (Coordinador)</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pic>
        <p:nvPicPr>
          <p:cNvPr id="6" name="Picture 5" descr="modal.png"/>
          <p:cNvPicPr>
            <a:picLocks noChangeAspect="1"/>
          </p:cNvPicPr>
          <p:nvPr/>
        </p:nvPicPr>
        <p:blipFill>
          <a:blip r:embed="rId2"/>
          <a:stretch>
            <a:fillRect/>
          </a:stretch>
        </p:blipFill>
        <p:spPr>
          <a:xfrm>
            <a:off x="6400800" y="1463040"/>
            <a:ext cx="5029200" cy="1094464"/>
          </a:xfrm>
          <a:prstGeom prst="rect">
            <a:avLst/>
          </a:prstGeom>
          <a:ln w="9525">
            <a:solidFill>
              <a:srgbClr val="D8D0D1"/>
            </a:solidFill>
          </a:ln>
          <a:effectLst/>
        </p:spPr>
      </p:pic>
      <p:sp>
        <p:nvSpPr>
          <p:cNvPr id="7" name="TextBox 6"/>
          <p:cNvSpPr txBox="1"/>
          <p:nvPr/>
        </p:nvSpPr>
        <p:spPr>
          <a:xfrm>
            <a:off x="777240" y="1554480"/>
            <a:ext cx="5394960" cy="4389120"/>
          </a:xfrm>
          <a:prstGeom prst="rect">
            <a:avLst/>
          </a:prstGeom>
          <a:noFill/>
        </p:spPr>
        <p:txBody>
          <a:bodyPr wrap="square">
            <a:spAutoFit/>
          </a:bodyPr>
          <a:lstStyle/>
          <a:p>
            <a:pPr>
              <a:lnSpc>
                <a:spcPct val="115000"/>
              </a:lnSpc>
              <a:spcAft>
                <a:spcPts val="600"/>
              </a:spcAft>
            </a:pPr>
            <a:r>
              <a:rPr sz="1400">
                <a:solidFill>
                  <a:srgbClr val="E4002B"/>
                </a:solidFill>
                <a:latin typeface="Calibri"/>
              </a:rPr>
              <a:t>▪  </a:t>
            </a:r>
            <a:r>
              <a:rPr sz="1400" b="1">
                <a:solidFill>
                  <a:srgbClr val="2F7D4F"/>
                </a:solidFill>
                <a:latin typeface="Calibri"/>
              </a:rPr>
              <a:t>Aprobar conclusión</a:t>
            </a:r>
            <a:r>
              <a:rPr sz="1400" b="0">
                <a:solidFill>
                  <a:srgbClr val="1A1516"/>
                </a:solidFill>
                <a:latin typeface="Calibri"/>
              </a:rPr>
              <a:t> — el ticket queda Concluido definitivo.</a:t>
            </a:r>
          </a:p>
          <a:p>
            <a:pPr>
              <a:lnSpc>
                <a:spcPct val="115000"/>
              </a:lnSpc>
              <a:spcAft>
                <a:spcPts val="600"/>
              </a:spcAft>
            </a:pPr>
            <a:r>
              <a:rPr sz="1400">
                <a:solidFill>
                  <a:srgbClr val="E4002B"/>
                </a:solidFill>
                <a:latin typeface="Calibri"/>
              </a:rPr>
              <a:t>▪  </a:t>
            </a:r>
            <a:r>
              <a:rPr sz="1400" b="1">
                <a:solidFill>
                  <a:srgbClr val="E4002B"/>
                </a:solidFill>
                <a:latin typeface="Calibri"/>
              </a:rPr>
              <a:t>Rechazar conclusión</a:t>
            </a:r>
            <a:r>
              <a:rPr sz="1400" b="0">
                <a:solidFill>
                  <a:srgbClr val="1A1516"/>
                </a:solidFill>
                <a:latin typeface="Calibri"/>
              </a:rPr>
              <a:t> — motivo obligatorio; el ticket vuelve a En progreso y el ejecutor recibe el motivo como comentario y notificación.</a:t>
            </a:r>
          </a:p>
          <a:p>
            <a:pPr>
              <a:lnSpc>
                <a:spcPct val="115000"/>
              </a:lnSpc>
              <a:spcAft>
                <a:spcPts val="600"/>
              </a:spcAft>
            </a:pPr>
            <a:r>
              <a:rPr sz="1400">
                <a:solidFill>
                  <a:srgbClr val="E4002B"/>
                </a:solidFill>
                <a:latin typeface="Calibri"/>
              </a:rPr>
              <a:t>▪  </a:t>
            </a:r>
            <a:r>
              <a:rPr sz="1400" b="1">
                <a:solidFill>
                  <a:srgbClr val="1A1516"/>
                </a:solidFill>
                <a:latin typeface="Calibri"/>
              </a:rPr>
              <a:t>Suspender / Reactivar</a:t>
            </a:r>
            <a:r>
              <a:rPr sz="1400" b="0">
                <a:solidFill>
                  <a:srgbClr val="1A1516"/>
                </a:solidFill>
                <a:latin typeface="Calibri"/>
              </a:rPr>
              <a:t> — congela el ticket y lo restaura al estado previo.</a:t>
            </a:r>
          </a:p>
          <a:p>
            <a:pPr>
              <a:lnSpc>
                <a:spcPct val="115000"/>
              </a:lnSpc>
              <a:spcAft>
                <a:spcPts val="600"/>
              </a:spcAft>
            </a:pPr>
            <a:r>
              <a:rPr sz="1400">
                <a:solidFill>
                  <a:srgbClr val="E4002B"/>
                </a:solidFill>
                <a:latin typeface="Calibri"/>
              </a:rPr>
              <a:t>▪  </a:t>
            </a:r>
            <a:r>
              <a:rPr sz="1400" b="1">
                <a:solidFill>
                  <a:srgbClr val="1A1516"/>
                </a:solidFill>
                <a:latin typeface="Calibri"/>
              </a:rPr>
              <a:t>Dividir</a:t>
            </a:r>
            <a:r>
              <a:rPr sz="1400" b="0">
                <a:solidFill>
                  <a:srgbClr val="1A1516"/>
                </a:solidFill>
                <a:latin typeface="Calibri"/>
              </a:rPr>
              <a:t> — copia idéntica (-1, -2…) para repartir el mismo trabajo.</a:t>
            </a:r>
          </a:p>
          <a:p>
            <a:pPr>
              <a:lnSpc>
                <a:spcPct val="115000"/>
              </a:lnSpc>
              <a:spcAft>
                <a:spcPts val="600"/>
              </a:spcAft>
            </a:pPr>
            <a:r>
              <a:rPr sz="1400">
                <a:solidFill>
                  <a:srgbClr val="E4002B"/>
                </a:solidFill>
                <a:latin typeface="Calibri"/>
              </a:rPr>
              <a:t>▪  </a:t>
            </a:r>
            <a:r>
              <a:rPr sz="1400" b="1">
                <a:solidFill>
                  <a:srgbClr val="1A1516"/>
                </a:solidFill>
                <a:latin typeface="Calibri"/>
              </a:rPr>
              <a:t>Derivar</a:t>
            </a:r>
            <a:r>
              <a:rPr sz="1400" b="0">
                <a:solidFill>
                  <a:srgbClr val="1A1516"/>
                </a:solidFill>
                <a:latin typeface="Calibri"/>
              </a:rPr>
              <a:t> — subticket nuevo que cuelga del padre y hereda su chat.</a:t>
            </a:r>
          </a:p>
          <a:p>
            <a:pPr>
              <a:lnSpc>
                <a:spcPct val="115000"/>
              </a:lnSpc>
              <a:spcAft>
                <a:spcPts val="600"/>
              </a:spcAft>
            </a:pPr>
            <a:r>
              <a:rPr sz="1400">
                <a:solidFill>
                  <a:srgbClr val="E4002B"/>
                </a:solidFill>
                <a:latin typeface="Calibri"/>
              </a:rPr>
              <a:t>▪  </a:t>
            </a:r>
            <a:r>
              <a:rPr sz="1400" b="1">
                <a:solidFill>
                  <a:srgbClr val="1A1516"/>
                </a:solidFill>
                <a:latin typeface="Calibri"/>
              </a:rPr>
              <a:t>Archivar / Desarchivar</a:t>
            </a:r>
            <a:r>
              <a:rPr sz="1400" b="0">
                <a:solidFill>
                  <a:srgbClr val="1A1516"/>
                </a:solidFill>
                <a:latin typeface="Calibri"/>
              </a:rPr>
              <a:t> — saca del tablero los Concluidos o Suspendidos.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TRABAJAR UN TICKET</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El día a día del Ejecutor</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pic>
        <p:nvPicPr>
          <p:cNvPr id="6" name="Picture 5" descr="mytickets.png"/>
          <p:cNvPicPr>
            <a:picLocks noChangeAspect="1"/>
          </p:cNvPicPr>
          <p:nvPr/>
        </p:nvPicPr>
        <p:blipFill>
          <a:blip r:embed="rId2"/>
          <a:stretch>
            <a:fillRect/>
          </a:stretch>
        </p:blipFill>
        <p:spPr>
          <a:xfrm>
            <a:off x="777240" y="1417320"/>
            <a:ext cx="10607040" cy="2128164"/>
          </a:xfrm>
          <a:prstGeom prst="rect">
            <a:avLst/>
          </a:prstGeom>
          <a:ln w="9525">
            <a:solidFill>
              <a:srgbClr val="D8D0D1"/>
            </a:solidFill>
          </a:ln>
          <a:effectLst/>
        </p:spPr>
      </p:pic>
      <p:sp>
        <p:nvSpPr>
          <p:cNvPr id="7" name="TextBox 6"/>
          <p:cNvSpPr txBox="1"/>
          <p:nvPr/>
        </p:nvSpPr>
        <p:spPr>
          <a:xfrm>
            <a:off x="777240" y="3840480"/>
            <a:ext cx="10607040" cy="2377440"/>
          </a:xfrm>
          <a:prstGeom prst="rect">
            <a:avLst/>
          </a:prstGeom>
          <a:noFill/>
        </p:spPr>
        <p:txBody>
          <a:bodyPr wrap="square">
            <a:spAutoFit/>
          </a:bodyPr>
          <a:lstStyle/>
          <a:p>
            <a:pPr>
              <a:lnSpc>
                <a:spcPct val="115000"/>
              </a:lnSpc>
              <a:spcAft>
                <a:spcPts val="600"/>
              </a:spcAft>
            </a:pPr>
            <a:r>
              <a:rPr sz="1400">
                <a:solidFill>
                  <a:srgbClr val="E4002B"/>
                </a:solidFill>
                <a:latin typeface="Calibri"/>
              </a:rPr>
              <a:t>▪  </a:t>
            </a:r>
            <a:r>
              <a:rPr sz="1400" b="0">
                <a:solidFill>
                  <a:srgbClr val="1A1516"/>
                </a:solidFill>
                <a:latin typeface="Calibri"/>
              </a:rPr>
              <a:t>Te asignan → notificación; la card aparece en «Por hacer».</a:t>
            </a:r>
          </a:p>
          <a:p>
            <a:pPr>
              <a:lnSpc>
                <a:spcPct val="115000"/>
              </a:lnSpc>
              <a:spcAft>
                <a:spcPts val="600"/>
              </a:spcAft>
            </a:pPr>
            <a:r>
              <a:rPr sz="1400">
                <a:solidFill>
                  <a:srgbClr val="E4002B"/>
                </a:solidFill>
                <a:latin typeface="Calibri"/>
              </a:rPr>
              <a:t>▪  </a:t>
            </a:r>
            <a:r>
              <a:rPr sz="1400" b="0">
                <a:solidFill>
                  <a:srgbClr val="1A1516"/>
                </a:solidFill>
                <a:latin typeface="Calibri"/>
              </a:rPr>
              <a:t>Arrastrá a «En progreso» al empezar — el sistema registra los tiempos.</a:t>
            </a:r>
          </a:p>
          <a:p>
            <a:pPr>
              <a:lnSpc>
                <a:spcPct val="115000"/>
              </a:lnSpc>
              <a:spcAft>
                <a:spcPts val="600"/>
              </a:spcAft>
            </a:pPr>
            <a:r>
              <a:rPr sz="1400">
                <a:solidFill>
                  <a:srgbClr val="E4002B"/>
                </a:solidFill>
                <a:latin typeface="Calibri"/>
              </a:rPr>
              <a:t>▪  </a:t>
            </a:r>
            <a:r>
              <a:rPr sz="1400" b="0">
                <a:solidFill>
                  <a:srgbClr val="1A1516"/>
                </a:solidFill>
                <a:latin typeface="Calibri"/>
              </a:rPr>
              <a:t>Arrastrá a «Concluido» al terminar → queda «sin aprobar» hasta la revisión.</a:t>
            </a:r>
          </a:p>
          <a:p>
            <a:pPr>
              <a:lnSpc>
                <a:spcPct val="115000"/>
              </a:lnSpc>
              <a:spcAft>
                <a:spcPts val="600"/>
              </a:spcAft>
            </a:pPr>
            <a:r>
              <a:rPr sz="1400">
                <a:solidFill>
                  <a:srgbClr val="E4002B"/>
                </a:solidFill>
                <a:latin typeface="Calibri"/>
              </a:rPr>
              <a:t>▪  </a:t>
            </a:r>
            <a:r>
              <a:rPr sz="1400" b="0">
                <a:solidFill>
                  <a:srgbClr val="1A1516"/>
                </a:solidFill>
                <a:latin typeface="Calibri"/>
              </a:rPr>
              <a:t>Si rechazan, volvés a «En progreso» con el motivo como comentario: corregí y volvé a concluir.</a:t>
            </a:r>
          </a:p>
          <a:p>
            <a:pPr>
              <a:lnSpc>
                <a:spcPct val="115000"/>
              </a:lnSpc>
              <a:spcAft>
                <a:spcPts val="600"/>
              </a:spcAft>
            </a:pPr>
            <a:r>
              <a:rPr sz="1400">
                <a:solidFill>
                  <a:srgbClr val="E4002B"/>
                </a:solidFill>
                <a:latin typeface="Calibri"/>
              </a:rPr>
              <a:t>▪  </a:t>
            </a:r>
            <a:r>
              <a:rPr sz="1400" b="0">
                <a:solidFill>
                  <a:srgbClr val="1A1516"/>
                </a:solidFill>
                <a:latin typeface="Calibri"/>
              </a:rPr>
              <a:t>Mis tickets lista tus pendientes, ordenables por vencimiento, prioridad o actividad.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COLABORACIÓN</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Chat de seguimiento y adjuntos</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pic>
        <p:nvPicPr>
          <p:cNvPr id="6" name="Picture 5" descr="detail-ejec.png"/>
          <p:cNvPicPr>
            <a:picLocks noChangeAspect="1"/>
          </p:cNvPicPr>
          <p:nvPr/>
        </p:nvPicPr>
        <p:blipFill>
          <a:blip r:embed="rId2"/>
          <a:stretch>
            <a:fillRect/>
          </a:stretch>
        </p:blipFill>
        <p:spPr>
          <a:xfrm>
            <a:off x="3032373" y="1371600"/>
            <a:ext cx="6096774" cy="3566159"/>
          </a:xfrm>
          <a:prstGeom prst="rect">
            <a:avLst/>
          </a:prstGeom>
          <a:ln w="9525">
            <a:solidFill>
              <a:srgbClr val="D8D0D1"/>
            </a:solidFill>
          </a:ln>
          <a:effectLst/>
        </p:spPr>
      </p:pic>
      <p:sp>
        <p:nvSpPr>
          <p:cNvPr id="7" name="TextBox 6"/>
          <p:cNvSpPr txBox="1"/>
          <p:nvPr/>
        </p:nvSpPr>
        <p:spPr>
          <a:xfrm>
            <a:off x="777240" y="5074920"/>
            <a:ext cx="10607040" cy="1554480"/>
          </a:xfrm>
          <a:prstGeom prst="rect">
            <a:avLst/>
          </a:prstGeom>
          <a:noFill/>
        </p:spPr>
        <p:txBody>
          <a:bodyPr wrap="square">
            <a:spAutoFit/>
          </a:bodyPr>
          <a:lstStyle/>
          <a:p>
            <a:pPr>
              <a:lnSpc>
                <a:spcPct val="115000"/>
              </a:lnSpc>
              <a:spcAft>
                <a:spcPts val="600"/>
              </a:spcAft>
            </a:pPr>
            <a:r>
              <a:rPr sz="1300">
                <a:solidFill>
                  <a:srgbClr val="E4002B"/>
                </a:solidFill>
                <a:latin typeface="Calibri"/>
              </a:rPr>
              <a:t>▪  </a:t>
            </a:r>
            <a:r>
              <a:rPr sz="1300" b="0">
                <a:solidFill>
                  <a:srgbClr val="1A1516"/>
                </a:solidFill>
                <a:latin typeface="Calibri"/>
              </a:rPr>
              <a:t>Mensajes en tiempo real; solo tu último mensaje se puede editar o borrar (el Coordinador modera).</a:t>
            </a:r>
          </a:p>
          <a:p>
            <a:pPr>
              <a:lnSpc>
                <a:spcPct val="115000"/>
              </a:lnSpc>
              <a:spcAft>
                <a:spcPts val="600"/>
              </a:spcAft>
            </a:pPr>
            <a:r>
              <a:rPr sz="1300">
                <a:solidFill>
                  <a:srgbClr val="E4002B"/>
                </a:solidFill>
                <a:latin typeface="Calibri"/>
              </a:rPr>
              <a:t>▪  </a:t>
            </a:r>
            <a:r>
              <a:rPr sz="1300" b="0">
                <a:solidFill>
                  <a:srgbClr val="1A1516"/>
                </a:solidFill>
                <a:latin typeface="Calibri"/>
              </a:rPr>
              <a:t>Adjuntos: imágenes, PDF, Word, Excel, PowerPoint, CSV y TXT.</a:t>
            </a:r>
          </a:p>
          <a:p>
            <a:pPr>
              <a:lnSpc>
                <a:spcPct val="115000"/>
              </a:lnSpc>
              <a:spcAft>
                <a:spcPts val="600"/>
              </a:spcAft>
            </a:pPr>
            <a:r>
              <a:rPr sz="1300">
                <a:solidFill>
                  <a:srgbClr val="E4002B"/>
                </a:solidFill>
                <a:latin typeface="Calibri"/>
              </a:rPr>
              <a:t>▪  </a:t>
            </a:r>
            <a:r>
              <a:rPr sz="1300" b="0">
                <a:solidFill>
                  <a:srgbClr val="1A1516"/>
                </a:solidFill>
                <a:latin typeface="Calibri"/>
              </a:rPr>
              <a:t>Las imágenes se pueden anotar (dibujar encima): cada anotación se publica como nueva versión en el chat.</a:t>
            </a:r>
          </a:p>
          <a:p>
            <a:pPr>
              <a:lnSpc>
                <a:spcPct val="115000"/>
              </a:lnSpc>
              <a:spcAft>
                <a:spcPts val="600"/>
              </a:spcAft>
            </a:pPr>
            <a:r>
              <a:rPr sz="1300">
                <a:solidFill>
                  <a:srgbClr val="E4002B"/>
                </a:solidFill>
                <a:latin typeface="Calibri"/>
              </a:rPr>
              <a:t>▪  </a:t>
            </a:r>
            <a:r>
              <a:rPr sz="1300" b="0">
                <a:solidFill>
                  <a:srgbClr val="1A1516"/>
                </a:solidFill>
                <a:latin typeface="Calibri"/>
              </a:rPr>
              <a:t>En tickets divididos o derivados, el chat incluye la conversación heredada del padre.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ounded Rectangle 1"/>
          <p:cNvSpPr/>
          <p:nvPr/>
        </p:nvSpPr>
        <p:spPr>
          <a:xfrm>
            <a:off x="502920" y="457200"/>
            <a:ext cx="109728" cy="475488"/>
          </a:xfrm>
          <a:prstGeom prst="round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92608"/>
            <a:ext cx="10789920" cy="274320"/>
          </a:xfrm>
          <a:prstGeom prst="rect">
            <a:avLst/>
          </a:prstGeom>
          <a:noFill/>
        </p:spPr>
        <p:txBody>
          <a:bodyPr wrap="square">
            <a:spAutoFit/>
          </a:bodyPr>
          <a:lstStyle/>
          <a:p>
            <a:pPr algn="l"/>
            <a:r>
              <a:rPr sz="1100" b="1">
                <a:solidFill>
                  <a:srgbClr val="D1A23C"/>
                </a:solidFill>
                <a:latin typeface="Calibri"/>
              </a:rPr>
              <a:t>COLABORACIÓN</a:t>
            </a:r>
          </a:p>
        </p:txBody>
      </p:sp>
      <p:sp>
        <p:nvSpPr>
          <p:cNvPr id="4" name="TextBox 3"/>
          <p:cNvSpPr txBox="1"/>
          <p:nvPr/>
        </p:nvSpPr>
        <p:spPr>
          <a:xfrm>
            <a:off x="777240" y="530352"/>
            <a:ext cx="10789920" cy="548640"/>
          </a:xfrm>
          <a:prstGeom prst="rect">
            <a:avLst/>
          </a:prstGeom>
          <a:noFill/>
        </p:spPr>
        <p:txBody>
          <a:bodyPr wrap="square">
            <a:spAutoFit/>
          </a:bodyPr>
          <a:lstStyle/>
          <a:p>
            <a:pPr algn="l"/>
            <a:r>
              <a:rPr sz="2700" b="1">
                <a:solidFill>
                  <a:srgbClr val="1A1516"/>
                </a:solidFill>
                <a:latin typeface="Calibri"/>
              </a:rPr>
              <a:t>Notificaciones</a:t>
            </a:r>
          </a:p>
        </p:txBody>
      </p:sp>
      <p:sp>
        <p:nvSpPr>
          <p:cNvPr id="5" name="TextBox 4"/>
          <p:cNvSpPr txBox="1"/>
          <p:nvPr/>
        </p:nvSpPr>
        <p:spPr>
          <a:xfrm>
            <a:off x="502920" y="6473952"/>
            <a:ext cx="5486400" cy="274320"/>
          </a:xfrm>
          <a:prstGeom prst="rect">
            <a:avLst/>
          </a:prstGeom>
          <a:noFill/>
        </p:spPr>
        <p:txBody>
          <a:bodyPr wrap="square">
            <a:spAutoFit/>
          </a:bodyPr>
          <a:lstStyle/>
          <a:p>
            <a:pPr algn="l"/>
            <a:r>
              <a:rPr sz="1000" b="1">
                <a:solidFill>
                  <a:srgbClr val="E4002B"/>
                </a:solidFill>
                <a:latin typeface="Calibri"/>
              </a:rPr>
              <a:t>Sky</a:t>
            </a:r>
            <a:r>
              <a:rPr sz="1000" b="1">
                <a:solidFill>
                  <a:srgbClr val="6B6062"/>
                </a:solidFill>
                <a:latin typeface="Calibri"/>
              </a:rPr>
              <a:t>Desk · Tutorial de tickets</a:t>
            </a:r>
          </a:p>
        </p:txBody>
      </p:sp>
      <p:pic>
        <p:nvPicPr>
          <p:cNvPr id="6" name="Picture 5" descr="bell.png"/>
          <p:cNvPicPr>
            <a:picLocks noChangeAspect="1"/>
          </p:cNvPicPr>
          <p:nvPr/>
        </p:nvPicPr>
        <p:blipFill>
          <a:blip r:embed="rId2"/>
          <a:stretch>
            <a:fillRect/>
          </a:stretch>
        </p:blipFill>
        <p:spPr>
          <a:xfrm>
            <a:off x="7315200" y="1554480"/>
            <a:ext cx="4023359" cy="858487"/>
          </a:xfrm>
          <a:prstGeom prst="rect">
            <a:avLst/>
          </a:prstGeom>
          <a:ln w="9525">
            <a:solidFill>
              <a:srgbClr val="D8D0D1"/>
            </a:solidFill>
          </a:ln>
          <a:effectLst/>
        </p:spPr>
      </p:pic>
      <p:sp>
        <p:nvSpPr>
          <p:cNvPr id="7" name="TextBox 6"/>
          <p:cNvSpPr txBox="1"/>
          <p:nvPr/>
        </p:nvSpPr>
        <p:spPr>
          <a:xfrm>
            <a:off x="777240" y="1645920"/>
            <a:ext cx="6126480" cy="4023360"/>
          </a:xfrm>
          <a:prstGeom prst="rect">
            <a:avLst/>
          </a:prstGeom>
          <a:noFill/>
        </p:spPr>
        <p:txBody>
          <a:bodyPr wrap="square">
            <a:spAutoFit/>
          </a:bodyPr>
          <a:lstStyle/>
          <a:p>
            <a:pPr>
              <a:lnSpc>
                <a:spcPct val="115000"/>
              </a:lnSpc>
              <a:spcAft>
                <a:spcPts val="600"/>
              </a:spcAft>
            </a:pPr>
            <a:r>
              <a:rPr sz="1400">
                <a:solidFill>
                  <a:srgbClr val="E4002B"/>
                </a:solidFill>
                <a:latin typeface="Calibri"/>
              </a:rPr>
              <a:t>▪  </a:t>
            </a:r>
            <a:r>
              <a:rPr sz="1400" b="1">
                <a:solidFill>
                  <a:srgbClr val="1A1516"/>
                </a:solidFill>
                <a:latin typeface="Calibri"/>
              </a:rPr>
              <a:t>La campanita recibe todo</a:t>
            </a:r>
            <a:r>
              <a:rPr sz="1400" b="0">
                <a:solidFill>
                  <a:srgbClr val="1A1516"/>
                </a:solidFill>
                <a:latin typeface="Calibri"/>
              </a:rPr>
              <a:t>: asignaciones, conclusiones por aprobar, aprobaciones y rechazos, suspensiones, comentarios y vencimientos.</a:t>
            </a:r>
          </a:p>
          <a:p>
            <a:pPr>
              <a:lnSpc>
                <a:spcPct val="115000"/>
              </a:lnSpc>
              <a:spcAft>
                <a:spcPts val="600"/>
              </a:spcAft>
            </a:pPr>
            <a:r>
              <a:rPr sz="1400">
                <a:solidFill>
                  <a:srgbClr val="E4002B"/>
                </a:solidFill>
                <a:latin typeface="Calibri"/>
              </a:rPr>
              <a:t>▪  </a:t>
            </a:r>
            <a:r>
              <a:rPr sz="1400" b="0">
                <a:solidFill>
                  <a:srgbClr val="1A1516"/>
                </a:solidFill>
                <a:latin typeface="Calibri"/>
              </a:rPr>
              <a:t>Por correo llegan las asignaciones (activado por defecto); los comentarios por correo vienen desactivados.</a:t>
            </a:r>
          </a:p>
          <a:p>
            <a:pPr>
              <a:lnSpc>
                <a:spcPct val="115000"/>
              </a:lnSpc>
              <a:spcAft>
                <a:spcPts val="600"/>
              </a:spcAft>
            </a:pPr>
            <a:r>
              <a:rPr sz="1400">
                <a:solidFill>
                  <a:srgbClr val="E4002B"/>
                </a:solidFill>
                <a:latin typeface="Calibri"/>
              </a:rPr>
              <a:t>▪  </a:t>
            </a:r>
            <a:r>
              <a:rPr sz="1400" b="0">
                <a:solidFill>
                  <a:srgbClr val="1A1516"/>
                </a:solidFill>
                <a:latin typeface="Calibri"/>
              </a:rPr>
              <a:t>Cada mañana el sistema avisa por los tickets que vencen hoy, mañana o vencieron ayer.</a:t>
            </a:r>
          </a:p>
          <a:p>
            <a:pPr>
              <a:lnSpc>
                <a:spcPct val="115000"/>
              </a:lnSpc>
              <a:spcAft>
                <a:spcPts val="600"/>
              </a:spcAft>
            </a:pPr>
            <a:r>
              <a:rPr sz="1400">
                <a:solidFill>
                  <a:srgbClr val="E4002B"/>
                </a:solidFill>
                <a:latin typeface="Calibri"/>
              </a:rPr>
              <a:t>▪  </a:t>
            </a:r>
            <a:r>
              <a:rPr sz="1400" b="0">
                <a:solidFill>
                  <a:srgbClr val="1A1516"/>
                </a:solidFill>
                <a:latin typeface="Calibri"/>
              </a:rPr>
              <a:t>El Coordinador recibe aviso cuando hay una conclusión pendiente de su aprobación.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BFB"/>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822960"/>
          </a:xfrm>
          <a:prstGeom prst="rect">
            <a:avLst/>
          </a:prstGeom>
          <a:noFill/>
        </p:spPr>
        <p:txBody>
          <a:bodyPr wrap="square">
            <a:spAutoFit/>
          </a:bodyPr>
          <a:lstStyle/>
          <a:p>
            <a:pPr algn="l"/>
            <a:r>
              <a:rPr sz="3400" b="1">
                <a:solidFill>
                  <a:srgbClr val="1A1516"/>
                </a:solidFill>
                <a:latin typeface="Calibri"/>
              </a:rPr>
              <a:t>¡A trabajar con </a:t>
            </a:r>
            <a:r>
              <a:rPr sz="3400" b="1">
                <a:solidFill>
                  <a:srgbClr val="E4002B"/>
                </a:solidFill>
                <a:latin typeface="Calibri"/>
              </a:rPr>
              <a:t>Sky</a:t>
            </a:r>
            <a:r>
              <a:rPr sz="3400" b="1">
                <a:solidFill>
                  <a:srgbClr val="1A1516"/>
                </a:solidFill>
                <a:latin typeface="Calibri"/>
              </a:rPr>
              <a:t>Desk!</a:t>
            </a:r>
          </a:p>
        </p:txBody>
      </p:sp>
      <p:sp>
        <p:nvSpPr>
          <p:cNvPr id="4" name="TextBox 3"/>
          <p:cNvSpPr txBox="1"/>
          <p:nvPr/>
        </p:nvSpPr>
        <p:spPr>
          <a:xfrm>
            <a:off x="914400" y="3383280"/>
            <a:ext cx="10332720" cy="1097280"/>
          </a:xfrm>
          <a:prstGeom prst="rect">
            <a:avLst/>
          </a:prstGeom>
          <a:noFill/>
        </p:spPr>
        <p:txBody>
          <a:bodyPr wrap="square">
            <a:spAutoFit/>
          </a:bodyPr>
          <a:lstStyle/>
          <a:p>
            <a:pPr algn="l">
              <a:lnSpc>
                <a:spcPct val="125000"/>
              </a:lnSpc>
            </a:pPr>
            <a:r>
              <a:rPr sz="1400" b="0">
                <a:solidFill>
                  <a:srgbClr val="6B6062"/>
                </a:solidFill>
                <a:latin typeface="Calibri"/>
              </a:rPr>
              <a:t>Las pantallas de esta guía son reproducciones ilustrativas de la interfaz. Los permisos de cada rol pueden ser ajustados por el superusuario, por lo que tu pantalla puede diferir levemente de lo mostrado.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